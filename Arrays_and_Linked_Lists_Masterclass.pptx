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65760" cy="43891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137160" cy="4389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601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DATA STRUCTURES MASTERCLASS</a:t>
            </a:r>
          </a:p>
          <a:p>
            <a:pPr>
              <a:spcAft>
                <a:spcPts val="800"/>
              </a:spcAft>
              <a:defRPr sz="4000" b="1">
                <a:solidFill>
                  <a:srgbClr val="F1F5F9"/>
                </a:solidFill>
                <a:latin typeface="Segoe UI"/>
              </a:defRPr>
            </a:pPr>
            <a:r>
              <a:t>Arrays &amp; Linked Lists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 Deep Dive into 1D/2D Lists, Pointer Topologies, and Algorithmic Mechanics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28600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4389120"/>
            <a:ext cx="2286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61772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97316"/>
                </a:solidFill>
                <a:latin typeface="Segoe UI"/>
              </a:defRPr>
            </a:pPr>
            <a:r>
              <a:t>MODULE 01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Array via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389120"/>
            <a:ext cx="228600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4389120"/>
            <a:ext cx="2286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61772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MODULE 02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1D &amp; 2D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389120"/>
            <a:ext cx="228600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4389120"/>
            <a:ext cx="22860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61772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MODULE 03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Singly/Doubly/Circular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389120"/>
            <a:ext cx="228600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4389120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61772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MODULE 04</a:t>
            </a:r>
          </a:p>
          <a:p>
            <a:pPr>
              <a:spcBef>
                <a:spcPts val="3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Insert, Delete,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ARCHITECTURAL FOUNDATIONS • MEMORY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Contiguous Memory vs. Dynamic Pointer Chaining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Understanding how hardware memory layout dictates time complexity and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1463040" cy="3200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Segoe UI"/>
              </a:defRPr>
            </a:pPr>
            <a:r>
              <a:t>ARRAY PARADIGM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17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Contiguous Memory Blocks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Direct Address Math: </a:t>
            </a:r>
            <a:r>
              <a:rPr b="0">
                <a:solidFill>
                  <a:srgbClr val="64748B"/>
                </a:solidFill>
              </a:rPr>
              <a:t>Access any index instantly via Base_Addr + (index * elem_size).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Cache Line Optimal: </a:t>
            </a:r>
            <a:r>
              <a:rPr b="0">
                <a:solidFill>
                  <a:srgbClr val="64748B"/>
                </a:solidFill>
              </a:rPr>
              <a:t>CPU pre-fetches neighboring elements into L1/L2 cache effortlessly.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Expensive Resizing: </a:t>
            </a:r>
            <a:r>
              <a:rPr b="0">
                <a:solidFill>
                  <a:srgbClr val="64748B"/>
                </a:solidFill>
              </a:rPr>
              <a:t>Inserting at index 0 requires shifting every existing item right: O(n).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2103120"/>
            <a:ext cx="1920240" cy="320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LINKED LIST PARADIGM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4617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Scattered Dynamic Nodes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Non-Contiguous Heap: </a:t>
            </a:r>
            <a:r>
              <a:rPr b="0">
                <a:solidFill>
                  <a:srgbClr val="64748B"/>
                </a:solidFill>
              </a:rPr>
              <a:t>Nodes live anywhere in RAM and link via memory address pointers.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Instant Re-pointing: </a:t>
            </a:r>
            <a:r>
              <a:rPr b="0">
                <a:solidFill>
                  <a:srgbClr val="64748B"/>
                </a:solidFill>
              </a:rPr>
              <a:t>Insert/Delete at known node requires only pointer rewire: O(1).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• Sequential Traversal: </a:t>
            </a:r>
            <a:r>
              <a:rPr b="0">
                <a:solidFill>
                  <a:srgbClr val="64748B"/>
                </a:solidFill>
              </a:rPr>
              <a:t>No random access: accessing k-th node requires hopping k pointers: O(n).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10698480" cy="6400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97316"/>
                </a:solidFill>
                <a:latin typeface="Segoe UI"/>
              </a:defRPr>
            </a:pPr>
            <a:r>
              <a:t>KEY TAKEAWAY: </a:t>
            </a:r>
            <a:r>
              <a:rPr b="0">
                <a:solidFill>
                  <a:srgbClr val="0F172A"/>
                </a:solidFill>
              </a:rPr>
              <a:t>Arrays optimize for instantaneous random reading; Linked Lists optimize for continuous dynamic mutation.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01 • ARRAY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Array Implementation via Python Lists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How Python builds dynamic, over-allocated pointer arrays under the hood.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Internal CPython Architecture</a:t>
            </a:r>
          </a:p>
          <a:p>
            <a:pPr>
              <a:spcBef>
                <a:spcPts val="800"/>
              </a:spcBef>
              <a:defRPr sz="1200" b="1">
                <a:solidFill>
                  <a:srgbClr val="F97316"/>
                </a:solidFill>
                <a:latin typeface="Segoe UI"/>
              </a:defRPr>
            </a:pPr>
            <a:r>
              <a:t>Array of References</a:t>
            </a:r>
            <a:br/>
            <a:r>
              <a:rPr sz="1100" b="0">
                <a:solidFill>
                  <a:srgbClr val="64748B"/>
                </a:solidFill>
                <a:latin typeface="Segoe UI"/>
              </a:rPr>
              <a:t>A Python list stores contiguous memory addresses pointing to objects, enabling heterogeneous storage.</a:t>
            </a:r>
          </a:p>
          <a:p>
            <a:pPr>
              <a:spcBef>
                <a:spcPts val="800"/>
              </a:spcBef>
              <a:defRPr sz="1200" b="1">
                <a:solidFill>
                  <a:srgbClr val="F97316"/>
                </a:solidFill>
                <a:latin typeface="Segoe UI"/>
              </a:defRPr>
            </a:pPr>
            <a:r>
              <a:t>Dynamic Over-allocation</a:t>
            </a:r>
            <a:br/>
            <a:r>
              <a:rPr sz="1100" b="0">
                <a:solidFill>
                  <a:srgbClr val="64748B"/>
                </a:solidFill>
                <a:latin typeface="Segoe UI"/>
              </a:rPr>
              <a:t>When capacity is exhausted, CPython resizes using an aggressive growth formula (0, 4, 8, 16, 24, 32...) to guarantee O(1) amortized appends.</a:t>
            </a:r>
          </a:p>
          <a:p>
            <a:pPr>
              <a:spcBef>
                <a:spcPts val="800"/>
              </a:spcBef>
              <a:defRPr sz="1200" b="1">
                <a:solidFill>
                  <a:srgbClr val="F97316"/>
                </a:solidFill>
                <a:latin typeface="Segoe UI"/>
              </a:defRPr>
            </a:pPr>
            <a:r>
              <a:t>Direct Index Access</a:t>
            </a:r>
            <a:br/>
            <a:r>
              <a:rPr sz="1100" b="0">
                <a:solidFill>
                  <a:srgbClr val="64748B"/>
                </a:solidFill>
                <a:latin typeface="Segoe UI"/>
              </a:rPr>
              <a:t>arr[i] translates to a simple pointer dereference at index offset.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12344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O(1)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828800"/>
            <a:ext cx="12344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92024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O(1)*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Append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828800"/>
            <a:ext cx="12344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92024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O(n)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Insert(0)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59" y="1828800"/>
            <a:ext cx="12344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59" y="192024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O(n)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Delete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5212080" cy="365760"/>
          </a:xfrm>
          <a:prstGeom prst="rect">
            <a:avLst/>
          </a:prstGeom>
          <a:solidFill>
            <a:srgbClr val="24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07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python_list_operations.py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# 1. Initialize Dynamic List</a:t>
            </a:r>
            <a:br/>
            <a:r>
              <a:t>numbers = [10, 20, 30, 40]</a:t>
            </a:r>
            <a:br/>
            <a:br/>
            <a:r>
              <a:t># 2. O(1) Instant Random Access</a:t>
            </a:r>
            <a:br/>
            <a:r>
              <a:t>val = numbers[2]       # Returns 30</a:t>
            </a:r>
            <a:br/>
            <a:br/>
            <a:r>
              <a:t># 3. O(1) Amortized Append</a:t>
            </a:r>
            <a:br/>
            <a:r>
              <a:t>numbers.append(50)     # Adds to end</a:t>
            </a:r>
            <a:br/>
            <a:br/>
            <a:r>
              <a:t># 4. O(n) Shifting Insertion</a:t>
            </a:r>
            <a:br/>
            <a:r>
              <a:t>numbers.insert(0, 99)  # Shifts all elements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02 • MULTI-DIMENSIONAL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1D vs. 2D Arrays (Nested Lists &amp; Matrices)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Structuring linear coordinate systems and nested multi-dimensional grids in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1D Linear Vector</a:t>
            </a:r>
          </a:p>
          <a:p>
            <a:pPr>
              <a:spcAft>
                <a:spcPts val="12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Single contiguous row with index range [0 .. N-1].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658368" cy="594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658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97316"/>
                </a:solidFill>
                <a:latin typeface="Consolas"/>
              </a:defRPr>
            </a:pPr>
            <a:r>
              <a:t>[0]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17520"/>
            <a:ext cx="658368" cy="594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3063240"/>
            <a:ext cx="658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74320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97316"/>
                </a:solidFill>
                <a:latin typeface="Consolas"/>
              </a:defRPr>
            </a:pPr>
            <a:r>
              <a:t>[1]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0864" y="3017520"/>
            <a:ext cx="658368" cy="594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3063240"/>
            <a:ext cx="658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274320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97316"/>
                </a:solidFill>
                <a:latin typeface="Consolas"/>
              </a:defRPr>
            </a:pPr>
            <a:r>
              <a:t>[2]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017520"/>
            <a:ext cx="658368" cy="594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3063240"/>
            <a:ext cx="658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74320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97316"/>
                </a:solidFill>
                <a:latin typeface="Consolas"/>
              </a:defRPr>
            </a:pPr>
            <a: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Key Properties:</a:t>
            </a:r>
            <a:br/>
            <a:r>
              <a:t>• Direct memory stride</a:t>
            </a:r>
            <a:br/>
            <a:r>
              <a:t>• O(1) read &amp; write</a:t>
            </a:r>
            <a:br/>
            <a:r>
              <a:t>• Linear iteration: O(n)</a:t>
            </a:r>
            <a:br/>
            <a:r>
              <a:t>• Ideal for sequences &amp; queues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828800"/>
            <a:ext cx="34747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2D Nested Matrix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matrix[row][col] addressing.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926080"/>
            <a:ext cx="713232" cy="566928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99923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97316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59" y="292608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59" y="299923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92608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9923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56616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63931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59" y="3566160"/>
            <a:ext cx="713232" cy="566928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59" y="363931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97316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6616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3931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420624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27939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59" y="4206240"/>
            <a:ext cx="713232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59" y="427939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206240"/>
            <a:ext cx="713232" cy="566928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79392"/>
            <a:ext cx="713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97316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9377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In Python, a 2D matrix is a list containing references to inner list objects.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1828800"/>
            <a:ext cx="3337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01168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Matrix Algorithms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Row-Major Traversal</a:t>
            </a:r>
            <a:br/>
            <a:r>
              <a:rPr sz="1000" b="0">
                <a:solidFill>
                  <a:srgbClr val="64748B"/>
                </a:solidFill>
                <a:latin typeface="Segoe UI"/>
              </a:rPr>
              <a:t>Nested loops iterating row by row: O(R × C) time complexity.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Coordinate Lookup</a:t>
            </a:r>
            <a:br/>
            <a:r>
              <a:rPr sz="1000" b="0">
                <a:solidFill>
                  <a:srgbClr val="64748B"/>
                </a:solidFill>
                <a:latin typeface="Segoe UI"/>
              </a:rPr>
              <a:t>Direct indexing: val = matrix[r][c] runs in O(1) time.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1D Flattening Math</a:t>
            </a:r>
            <a:br/>
            <a:r>
              <a:rPr sz="1000" b="0">
                <a:solidFill>
                  <a:srgbClr val="64748B"/>
                </a:solidFill>
                <a:latin typeface="Segoe UI"/>
              </a:rPr>
              <a:t>Map 2D (r,c) to 1D index:
index = (r * COLS) + c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Use Cases</a:t>
            </a:r>
            <a:br/>
            <a:r>
              <a:rPr sz="1000" b="0">
                <a:solidFill>
                  <a:srgbClr val="64748B"/>
                </a:solidFill>
                <a:latin typeface="Segoe UI"/>
              </a:rPr>
              <a:t>Image processing pixels, game boards (Chess/Sudoku), Graph adjacency matrices.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03 • NODE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Singly Linked List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Dynamic non-contiguous memory nodes linked through directional pointer references.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194560"/>
            <a:ext cx="21031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1280160" cy="960120"/>
          </a:xfrm>
          <a:prstGeom prst="rect">
            <a:avLst/>
          </a:prstGeom>
          <a:solidFill>
            <a:srgbClr val="EEF2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Data</a:t>
            </a:r>
            <a:br/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Next</a:t>
            </a:r>
            <a:br/>
            <a:r>
              <a:t>[ •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423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──────►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94560"/>
            <a:ext cx="21031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194560"/>
            <a:ext cx="1280160" cy="960120"/>
          </a:xfrm>
          <a:prstGeom prst="rect">
            <a:avLst/>
          </a:prstGeom>
          <a:solidFill>
            <a:srgbClr val="EEF2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3317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Data</a:t>
            </a:r>
            <a:br/>
            <a: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3172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Next</a:t>
            </a:r>
            <a:br/>
            <a:r>
              <a:t>[ •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──────►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2194560"/>
            <a:ext cx="210312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59" y="2194560"/>
            <a:ext cx="1280160" cy="960120"/>
          </a:xfrm>
          <a:prstGeom prst="rect">
            <a:avLst/>
          </a:prstGeom>
          <a:solidFill>
            <a:srgbClr val="EEF2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3317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Data</a:t>
            </a:r>
            <a:br/>
            <a:r>
              <a:t>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33172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Next</a:t>
            </a:r>
            <a:br/>
            <a:r>
              <a:t>[ •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3774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onsolas"/>
              </a:defRPr>
            </a:pPr>
            <a:r>
              <a:t>──► NULL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52120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947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Node Anatomy &amp; Pointer Mechanics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The Head Pointer: </a:t>
            </a:r>
            <a:r>
              <a:rPr b="0">
                <a:solidFill>
                  <a:srgbClr val="64748B"/>
                </a:solidFill>
              </a:rPr>
              <a:t>Stores address of the 1st node. If Head is None, list is empty.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Uni-directional Navigation: </a:t>
            </a:r>
            <a:r>
              <a:rPr b="0">
                <a:solidFill>
                  <a:srgbClr val="64748B"/>
                </a:solidFill>
              </a:rPr>
              <a:t>Traversals are strictly forward. Moving backwards requires starting from Head.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Dynamic Heap Allocation: </a:t>
            </a:r>
            <a:r>
              <a:rPr b="0">
                <a:solidFill>
                  <a:srgbClr val="64748B"/>
                </a:solidFill>
              </a:rPr>
              <a:t>Zero memory reallocation or element copying when inserting.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57600"/>
            <a:ext cx="5212080" cy="2651760"/>
          </a:xfrm>
          <a:prstGeom prst="round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6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# Python Singly Linked List Node Definition</a:t>
            </a:r>
            <a:br/>
            <a:r>
              <a:t>class Node:</a:t>
            </a:r>
            <a:br/>
            <a:r>
              <a:t>    def __init__(self, data):</a:t>
            </a:r>
            <a:br/>
            <a:r>
              <a:t>        self.data = data      # Stores payload value</a:t>
            </a:r>
            <a:br/>
            <a:r>
              <a:t>        self.next = None      # Reference to next node</a:t>
            </a:r>
            <a:br/>
            <a:br/>
            <a:r>
              <a:t>class SinglyLinkedList:</a:t>
            </a:r>
            <a:br/>
            <a:r>
              <a:t>    def __init__(self):</a:t>
            </a:r>
            <a:br/>
            <a:r>
              <a:t>        self.head = None      # Points to initial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03 • ADVANCED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Doubly &amp; Circular Linked Lists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Exploring bidirectional pointer navigation and endless loop circular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2103120" cy="3200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DOUBLY LINKED LIST (DLL)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Bidirectional Navigation</a:t>
            </a:r>
          </a:p>
          <a:p>
            <a:pPr>
              <a:spcAft>
                <a:spcPts val="600"/>
              </a:spcAft>
              <a:defRPr sz="950" b="1">
                <a:solidFill>
                  <a:srgbClr val="F97316"/>
                </a:solidFill>
                <a:latin typeface="Consolas"/>
              </a:defRPr>
            </a:pPr>
            <a:r>
              <a:t>Visual Structure:</a:t>
            </a:r>
            <a:br/>
            <a:r>
              <a:t>NULL ◄── [ Prev | Data | Next ] ◄══► [ Prev | Data | Next ] ──► NULL</a:t>
            </a:r>
            <a:br/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Two Pointers per Node: </a:t>
            </a:r>
            <a:r>
              <a:rPr b="0">
                <a:solidFill>
                  <a:srgbClr val="64748B"/>
                </a:solidFill>
              </a:rPr>
              <a:t>Each node maintains both 'prev' and 'next' references.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O(1) Reverse Step: </a:t>
            </a:r>
            <a:r>
              <a:rPr b="0">
                <a:solidFill>
                  <a:srgbClr val="64748B"/>
                </a:solidFill>
              </a:rPr>
              <a:t>Can traverse forwards and backwards with equal speed.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O(1) Self Deletion: </a:t>
            </a:r>
            <a:r>
              <a:rPr b="0">
                <a:solidFill>
                  <a:srgbClr val="64748B"/>
                </a:solidFill>
              </a:rPr>
              <a:t>Given node pointer P, can delete instantly without searching for previous node: P.prev.next = P.next.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Trade-off: </a:t>
            </a:r>
            <a:r>
              <a:rPr b="0">
                <a:solidFill>
                  <a:srgbClr val="64748B"/>
                </a:solidFill>
              </a:rPr>
              <a:t>Requires ~33% more memory overhead per node for extra pointer.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2011680"/>
            <a:ext cx="2194560" cy="3200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CIRCULAR LINKED LIST (CLL)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Continuous Ring Topology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Visual Structure:</a:t>
            </a:r>
            <a:br/>
            <a:r>
              <a:t>[ HEAD ] ──► [ Node 1 ] ──► [ Node 2 ] ──► [ Node 3 ] ──┐</a:t>
            </a:r>
            <a:br/>
            <a:r>
              <a:t>   ▲                                                      │</a:t>
            </a:r>
            <a:br/>
            <a:r>
              <a:t>   └──────────────────────────────────────────────────────┘</a:t>
            </a:r>
            <a:br/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No NULL Terminus: </a:t>
            </a:r>
            <a:r>
              <a:rPr b="0">
                <a:solidFill>
                  <a:srgbClr val="64748B"/>
                </a:solidFill>
              </a:rPr>
              <a:t>The last node's 'next' pointer wraps around to point back to Head.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Singly &amp; Doubly Circular: </a:t>
            </a:r>
            <a:r>
              <a:rPr b="0">
                <a:solidFill>
                  <a:srgbClr val="64748B"/>
                </a:solidFill>
              </a:rPr>
              <a:t>Can be single ring or dual ring (last.next=head &amp; head.prev=last).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Real-World Use Cases: </a:t>
            </a:r>
            <a:r>
              <a:rPr b="0">
                <a:solidFill>
                  <a:srgbClr val="64748B"/>
                </a:solidFill>
              </a:rPr>
              <a:t>OS Round-Robin CPU scheduling, continuous media playlist repeat, multiplayer gaming turn queues.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Caution: </a:t>
            </a:r>
            <a:r>
              <a:rPr b="0">
                <a:solidFill>
                  <a:srgbClr val="64748B"/>
                </a:solidFill>
              </a:rPr>
              <a:t>Must prevent infinite loops by tracking starting node or using two pointers.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04 • CORE ALGORITHMIC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Insertion &amp; Deletion Operations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Executing surgical pointer rewiring without shifting adjacent memory blocks.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01. Insert at Head</a:t>
            </a:r>
          </a:p>
          <a:p>
            <a:pPr>
              <a:spcAft>
                <a:spcPts val="10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Complexity: O(1) Time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1. Allocate new Node(val)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2. Point newNode.next = head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3. Update head = newNode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✓ Instant: zero shifting required regardless of list 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747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02. Insert at Position k</a:t>
            </a:r>
          </a:p>
          <a:p>
            <a:pPr>
              <a:spcAft>
                <a:spcPts val="1000"/>
              </a:spcAft>
              <a:defRPr sz="1050" b="1">
                <a:solidFill>
                  <a:srgbClr val="F97316"/>
                </a:solidFill>
                <a:latin typeface="Segoe UI"/>
              </a:defRPr>
            </a:pPr>
            <a:r>
              <a:t>Complexity: O(n) Time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1. Traverse to (k-1)th node (prev)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2. newNode.next = prev.next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3. prev.next = newNode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✓ Traversal is O(n), but physical reconnection is O(1).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747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828800"/>
            <a:ext cx="34747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0116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03. Delete by Value</a:t>
            </a:r>
          </a:p>
          <a:p>
            <a:pPr>
              <a:spcAft>
                <a:spcPts val="1000"/>
              </a:spcAft>
              <a:defRPr sz="1050" b="1">
                <a:solidFill>
                  <a:srgbClr val="EF4444"/>
                </a:solidFill>
                <a:latin typeface="Segoe UI"/>
              </a:defRPr>
            </a:pPr>
            <a:r>
              <a:t>Complexity: O(n) Time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1. Traverse to find target node &amp; prev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2. Rewire: prev.next = target.next</a:t>
            </a:r>
          </a:p>
          <a:p>
            <a:pPr>
              <a:spcBef>
                <a:spcPts val="400"/>
              </a:spcBef>
              <a:defRPr sz="1050" b="0">
                <a:solidFill>
                  <a:srgbClr val="64748B"/>
                </a:solidFill>
                <a:latin typeface="Segoe UI"/>
              </a:defRPr>
            </a:pPr>
            <a:r>
              <a:t>3. Delete target (GC frees RAM)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✓ If target is Head: head = head.next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698480" cy="1325880"/>
          </a:xfrm>
          <a:prstGeom prst="round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# Python Implementation: Surgical Pointer Rewiring</a:t>
            </a:r>
            <a:br/>
            <a:r>
              <a:t>def insert_after(prev_node, new_data):                 def delete_node(self, key):</a:t>
            </a:r>
            <a:br/>
            <a:r>
              <a:t>    if not prev_node: return                               curr, prev = self.head, None</a:t>
            </a:r>
            <a:br/>
            <a:r>
              <a:t>    new_node = Node(new_data)                              while curr and curr.data != key:</a:t>
            </a:r>
            <a:br/>
            <a:r>
              <a:t>    new_node.next = prev_node.next                             prev, curr = curr, curr.next</a:t>
            </a:r>
            <a:br/>
            <a:r>
              <a:t>    prev_node.next = new_node                              if curr: prev.next = curr.next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MODULE 04 • ALGORITHMIC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Traversal, Search &amp; Critical Edge Cases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Iterative linear traversal techniques and defensive checks for robust production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Traversal &amp; Search Dynamics</a:t>
            </a:r>
          </a:p>
          <a:p>
            <a:pPr>
              <a:spcBef>
                <a:spcPts val="600"/>
              </a:spcBef>
              <a:defRPr sz="1150" b="1">
                <a:solidFill>
                  <a:srgbClr val="F97316"/>
                </a:solidFill>
                <a:latin typeface="Segoe UI"/>
              </a:defRPr>
            </a:pPr>
            <a:r>
              <a:t>Linear Pointer Progression</a:t>
            </a:r>
            <a:br/>
            <a:r>
              <a:rPr sz="1050" b="0">
                <a:solidFill>
                  <a:srgbClr val="64748B"/>
                </a:solidFill>
                <a:latin typeface="Segoe UI"/>
              </a:rPr>
              <a:t>Start at head: current = head. Advance node-by-node: current = current.next until current is None. Time Complexity: O(n).</a:t>
            </a:r>
          </a:p>
          <a:p>
            <a:pPr>
              <a:spcBef>
                <a:spcPts val="600"/>
              </a:spcBef>
              <a:defRPr sz="1150" b="1">
                <a:solidFill>
                  <a:srgbClr val="F97316"/>
                </a:solidFill>
                <a:latin typeface="Segoe UI"/>
              </a:defRPr>
            </a:pPr>
            <a:r>
              <a:t>Search / Lookup Protocol</a:t>
            </a:r>
            <a:br/>
            <a:r>
              <a:rPr sz="1050" b="0">
                <a:solidFill>
                  <a:srgbClr val="64748B"/>
                </a:solidFill>
                <a:latin typeface="Segoe UI"/>
              </a:rPr>
              <a:t>Compare current.data == target. Return True or Node pointer upon match, or False if reaching end.</a:t>
            </a:r>
          </a:p>
          <a:p>
            <a:pPr>
              <a:spcBef>
                <a:spcPts val="600"/>
              </a:spcBef>
              <a:defRPr sz="1150" b="1">
                <a:solidFill>
                  <a:srgbClr val="F97316"/>
                </a:solidFill>
                <a:latin typeface="Segoe UI"/>
              </a:defRPr>
            </a:pPr>
            <a:r>
              <a:t>Length Calculation</a:t>
            </a:r>
            <a:br/>
            <a:r>
              <a:rPr sz="1050" b="0">
                <a:solidFill>
                  <a:srgbClr val="64748B"/>
                </a:solidFill>
                <a:latin typeface="Segoe UI"/>
              </a:rPr>
              <a:t>Increment counter during traversal. Unlike Arrays (which store length in metadata), standard Linked Lists compute length in O(n) unless tracked.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Critical Edge Cases &amp; Safeguards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Empty List Scenario: </a:t>
            </a:r>
            <a:r>
              <a:rPr b="0">
                <a:solidFill>
                  <a:srgbClr val="64748B"/>
                </a:solidFill>
              </a:rPr>
              <a:t>If head is None, operations like delete, search, or head-insert must not dereference head.next (AttributeError).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Single Node List: </a:t>
            </a:r>
            <a:r>
              <a:rPr b="0">
                <a:solidFill>
                  <a:srgbClr val="64748B"/>
                </a:solidFill>
              </a:rPr>
              <a:t>Deleting the only node means updating head = None. Tail/prev references must also clear.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Deleting Head Node: </a:t>
            </a:r>
            <a:r>
              <a:rPr b="0">
                <a:solidFill>
                  <a:srgbClr val="64748B"/>
                </a:solidFill>
              </a:rPr>
              <a:t>Special condition: head = head.next. No previous node pointer rewiring exists.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Cycle Detection: </a:t>
            </a:r>
            <a:r>
              <a:rPr b="0">
                <a:solidFill>
                  <a:srgbClr val="64748B"/>
                </a:solidFill>
              </a:rPr>
              <a:t>In circular structures or corrupted lists, use Floyd's Tortoise and Hare algorithm (fast &amp; slow pointers) to prevent infinite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97316"/>
                </a:solidFill>
                <a:latin typeface="Segoe UI"/>
              </a:defRPr>
            </a:pPr>
            <a:r>
              <a:t>BENCHMARK • ARCHITECTURAL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Head-to-Head Performance Scorecard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Time complexity and resource consumption comparison across linear structures.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606040"/>
                <a:gridCol w="2606040"/>
              </a:tblGrid>
              <a:tr h="6531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Operation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Array / Python List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Singly Linked List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Doubly Linked List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Random Access [Index i]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O(1) [Instant Math]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O(n) [Must Traverse]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O(n) [Must Traverse]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Insert / Delete at Beginning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O(n) [Full Array Shift]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O(1) [Pointer Rewire]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O(1) [Pointer Rewire]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Insert / Delete at 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O(1)* [Amortized Append]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O(n) or O(1) with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O(1) with Tail Pointer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Insert / Delete at Middle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O(n) [Shift Elements]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O(1) after O(n) seek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O(1) after O(n) seek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Memory 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Low (Pure values/ptrs)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Medium (+1 Ptr per node)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High (+2 Ptrs per node)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CPU Cache Locality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Excellent (Contiguous)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Poor (Scattered Heap)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Poor (Scattered Heap)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SUMMARY • ARCHITECTURAL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Segoe UI"/>
              </a:defRPr>
            </a:pPr>
            <a:r>
              <a:t>When to Choose Which Data Structure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Concrete decision rules for software engineers and systems architects.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97316"/>
                </a:solidFill>
                <a:latin typeface="Segoe UI"/>
              </a:defRPr>
            </a:pPr>
            <a:r>
              <a:t>CHOOSE ARRAYS / PYTHON LISTS WHEN...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Read-heavy workloads requiring fast random index lookups O(1).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Predictable dataset sizes with infrequent insertions at the beginning.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CPU cache locality and minimal memory footprint are paramount.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2D/3D numerical matrix algebra, games, and machine learning tensors.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CHOOSE LINKED LISTS WHEN...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Frequent insertions and deletions at the head or within streams: O(1).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Unknown, wildly fluctuating memory allocations where resizing is costly.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Building foundation abstractions: Stacks, Queues, Graphs, and Hash Chaining.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Memory fragmentation prevents allocating large contiguous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28800"/>
            <a:ext cx="3474720" cy="4023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82880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MODERN HYBRID ALTERNATIVES IN PYTHON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collections.deque: Double-ended queue with O(1) appends and pops from both ends.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array.array / numpy.ndarray: High-performance contiguous C-style typed arrays.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• heapq / PriorityQueue: Tree-backed heap for prioritized sequence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4155"/>
                </a:solidFill>
                <a:latin typeface="Segoe UI"/>
              </a:defRPr>
            </a:pPr>
            <a:r>
              <a:t>Arrays &amp; Linked Lists Masterclass • Professional Presentation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